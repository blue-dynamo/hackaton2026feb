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6858000" cy="9144000"/>
  <p:embeddedFontLst>
    <p:embeddedFont>
      <p:font typeface="Fredoka" panose="02000000000000000000"/>
      <p:regular r:id="rId5"/>
    </p:embeddedFont>
    <p:embeddedFont>
      <p:font typeface="TT Norms" panose="02000503030000020003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3" autoAdjust="0"/>
    <p:restoredTop sz="94621" autoAdjust="0"/>
  </p:normalViewPr>
  <p:slideViewPr>
    <p:cSldViewPr>
      <p:cViewPr>
        <p:scale>
          <a:sx n="80" d="100"/>
          <a:sy n="80" d="100"/>
        </p:scale>
        <p:origin x="72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A367E6-62AC-DA48-AD46-503B26861889}" type="datetimeFigureOut">
              <a:rPr lang="en-PT" smtClean="0"/>
              <a:t>27/02/2026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3E2CEC-085C-E24D-B35D-E6F5CC270A55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74033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E2CEC-085C-E24D-B35D-E6F5CC270A55}" type="slidenum">
              <a:rPr lang="en-PT" smtClean="0"/>
              <a:t>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684070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6.svg"/><Relationship Id="rId5" Type="http://schemas.openxmlformats.org/officeDocument/2006/relationships/image" Target="../media/image14.svg"/><Relationship Id="rId10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92007">
            <a:off x="11253818" y="-3649378"/>
            <a:ext cx="9270978" cy="8714719"/>
          </a:xfrm>
          <a:custGeom>
            <a:avLst/>
            <a:gdLst/>
            <a:ahLst/>
            <a:cxnLst/>
            <a:rect l="l" t="t" r="r" b="b"/>
            <a:pathLst>
              <a:path w="9270978" h="8714719">
                <a:moveTo>
                  <a:pt x="0" y="0"/>
                </a:moveTo>
                <a:lnTo>
                  <a:pt x="9270978" y="0"/>
                </a:lnTo>
                <a:lnTo>
                  <a:pt x="9270978" y="8714719"/>
                </a:lnTo>
                <a:lnTo>
                  <a:pt x="0" y="871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PT"/>
          </a:p>
        </p:txBody>
      </p:sp>
      <p:sp>
        <p:nvSpPr>
          <p:cNvPr id="3" name="Freeform 3"/>
          <p:cNvSpPr/>
          <p:nvPr/>
        </p:nvSpPr>
        <p:spPr>
          <a:xfrm rot="-792007">
            <a:off x="-3975367" y="4792920"/>
            <a:ext cx="9270978" cy="8714719"/>
          </a:xfrm>
          <a:custGeom>
            <a:avLst/>
            <a:gdLst/>
            <a:ahLst/>
            <a:cxnLst/>
            <a:rect l="l" t="t" r="r" b="b"/>
            <a:pathLst>
              <a:path w="9270978" h="8714719">
                <a:moveTo>
                  <a:pt x="0" y="0"/>
                </a:moveTo>
                <a:lnTo>
                  <a:pt x="9270977" y="0"/>
                </a:lnTo>
                <a:lnTo>
                  <a:pt x="9270977" y="8714719"/>
                </a:lnTo>
                <a:lnTo>
                  <a:pt x="0" y="871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T"/>
          </a:p>
        </p:txBody>
      </p:sp>
      <p:sp>
        <p:nvSpPr>
          <p:cNvPr id="4" name="Freeform 4"/>
          <p:cNvSpPr/>
          <p:nvPr/>
        </p:nvSpPr>
        <p:spPr>
          <a:xfrm rot="-112581">
            <a:off x="14455545" y="-634191"/>
            <a:ext cx="5191320" cy="2684345"/>
          </a:xfrm>
          <a:custGeom>
            <a:avLst/>
            <a:gdLst/>
            <a:ahLst/>
            <a:cxnLst/>
            <a:rect l="l" t="t" r="r" b="b"/>
            <a:pathLst>
              <a:path w="5191320" h="2684345">
                <a:moveTo>
                  <a:pt x="0" y="0"/>
                </a:moveTo>
                <a:lnTo>
                  <a:pt x="5191319" y="0"/>
                </a:lnTo>
                <a:lnTo>
                  <a:pt x="5191319" y="2684345"/>
                </a:lnTo>
                <a:lnTo>
                  <a:pt x="0" y="26843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T"/>
          </a:p>
        </p:txBody>
      </p:sp>
      <p:sp>
        <p:nvSpPr>
          <p:cNvPr id="5" name="Freeform 5"/>
          <p:cNvSpPr/>
          <p:nvPr/>
        </p:nvSpPr>
        <p:spPr>
          <a:xfrm rot="739898">
            <a:off x="16308930" y="2692159"/>
            <a:ext cx="1262355" cy="1262355"/>
          </a:xfrm>
          <a:custGeom>
            <a:avLst/>
            <a:gdLst/>
            <a:ahLst/>
            <a:cxnLst/>
            <a:rect l="l" t="t" r="r" b="b"/>
            <a:pathLst>
              <a:path w="1262355" h="1262355">
                <a:moveTo>
                  <a:pt x="0" y="0"/>
                </a:moveTo>
                <a:lnTo>
                  <a:pt x="1262355" y="0"/>
                </a:lnTo>
                <a:lnTo>
                  <a:pt x="1262355" y="1262354"/>
                </a:lnTo>
                <a:lnTo>
                  <a:pt x="0" y="12623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T"/>
          </a:p>
        </p:txBody>
      </p:sp>
      <p:sp>
        <p:nvSpPr>
          <p:cNvPr id="6" name="TextBox 6"/>
          <p:cNvSpPr txBox="1"/>
          <p:nvPr/>
        </p:nvSpPr>
        <p:spPr>
          <a:xfrm>
            <a:off x="2363328" y="1448585"/>
            <a:ext cx="5531275" cy="586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4400" spc="-198" dirty="0">
                <a:solidFill>
                  <a:srgbClr val="8766BC"/>
                </a:solidFill>
                <a:latin typeface="Fredoka"/>
                <a:ea typeface="Fredoka"/>
                <a:cs typeface="Fredoka"/>
                <a:sym typeface="Fredoka"/>
              </a:rPr>
              <a:t>Team </a:t>
            </a:r>
            <a:r>
              <a:rPr lang="en-US" sz="4400" spc="-198" dirty="0" err="1">
                <a:solidFill>
                  <a:srgbClr val="8766BC"/>
                </a:solidFill>
                <a:latin typeface="Fredoka"/>
                <a:ea typeface="Fredoka"/>
                <a:cs typeface="Fredoka"/>
                <a:sym typeface="Fredoka"/>
              </a:rPr>
              <a:t>Pipoca</a:t>
            </a:r>
            <a:endParaRPr lang="en-US" sz="4400" spc="-198" dirty="0">
              <a:solidFill>
                <a:srgbClr val="8766BC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7065363" y="7286318"/>
            <a:ext cx="5032591" cy="3000682"/>
          </a:xfrm>
          <a:custGeom>
            <a:avLst/>
            <a:gdLst/>
            <a:ahLst/>
            <a:cxnLst/>
            <a:rect l="l" t="t" r="r" b="b"/>
            <a:pathLst>
              <a:path w="5032591" h="3000682">
                <a:moveTo>
                  <a:pt x="0" y="0"/>
                </a:moveTo>
                <a:lnTo>
                  <a:pt x="5032591" y="0"/>
                </a:lnTo>
                <a:lnTo>
                  <a:pt x="5032591" y="3000682"/>
                </a:lnTo>
                <a:lnTo>
                  <a:pt x="0" y="30006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T"/>
          </a:p>
        </p:txBody>
      </p:sp>
      <p:sp>
        <p:nvSpPr>
          <p:cNvPr id="8" name="TextBox 8"/>
          <p:cNvSpPr txBox="1"/>
          <p:nvPr/>
        </p:nvSpPr>
        <p:spPr>
          <a:xfrm>
            <a:off x="8807944" y="2274316"/>
            <a:ext cx="9327656" cy="15440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059"/>
              </a:lnSpc>
              <a:buFont typeface="Arial" panose="020B0604020202020204" pitchFamily="34" charset="0"/>
              <a:buChar char="•"/>
            </a:pPr>
            <a:r>
              <a:rPr lang="en-US" sz="2899" spc="-95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Turn runtime failures into ready-to-review </a:t>
            </a:r>
            <a:br>
              <a:rPr lang="en-US" sz="2899" spc="-95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</a:br>
            <a:r>
              <a:rPr lang="en-US" sz="2899" spc="-95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user stories and bug tickets.</a:t>
            </a:r>
          </a:p>
          <a:p>
            <a:pPr marL="457200" indent="-457200">
              <a:lnSpc>
                <a:spcPts val="4059"/>
              </a:lnSpc>
              <a:buFont typeface="Arial" panose="020B0604020202020204" pitchFamily="34" charset="0"/>
              <a:buChar char="•"/>
            </a:pPr>
            <a:r>
              <a:rPr lang="en-US" sz="2899" spc="-95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From production pain to product clarity — automatically.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07945" y="1445779"/>
            <a:ext cx="7081361" cy="586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8"/>
              </a:lnSpc>
            </a:pPr>
            <a:r>
              <a:rPr lang="en-US" sz="4400" spc="-198" dirty="0">
                <a:solidFill>
                  <a:srgbClr val="8766BC"/>
                </a:solidFill>
                <a:latin typeface="Fredoka"/>
                <a:ea typeface="Fredoka"/>
                <a:cs typeface="Fredoka"/>
                <a:sym typeface="Fredoka"/>
              </a:rPr>
              <a:t>AI-empower Event </a:t>
            </a:r>
            <a:r>
              <a:rPr lang="en-US" sz="4400" spc="-198" dirty="0" err="1">
                <a:solidFill>
                  <a:srgbClr val="8766BC"/>
                </a:solidFill>
                <a:latin typeface="Fredoka"/>
                <a:ea typeface="Fredoka"/>
                <a:cs typeface="Fredoka"/>
                <a:sym typeface="Fredoka"/>
              </a:rPr>
              <a:t>Analyser</a:t>
            </a:r>
            <a:endParaRPr lang="en-US" sz="4400" spc="-198" dirty="0">
              <a:solidFill>
                <a:srgbClr val="8766BC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0" y="-74986"/>
            <a:ext cx="2366533" cy="712918"/>
          </a:xfrm>
          <a:custGeom>
            <a:avLst/>
            <a:gdLst/>
            <a:ahLst/>
            <a:cxnLst/>
            <a:rect l="l" t="t" r="r" b="b"/>
            <a:pathLst>
              <a:path w="2366533" h="712918">
                <a:moveTo>
                  <a:pt x="0" y="0"/>
                </a:moveTo>
                <a:lnTo>
                  <a:pt x="2366533" y="0"/>
                </a:lnTo>
                <a:lnTo>
                  <a:pt x="2366533" y="712918"/>
                </a:lnTo>
                <a:lnTo>
                  <a:pt x="0" y="71291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PT"/>
          </a:p>
        </p:txBody>
      </p:sp>
      <p:sp>
        <p:nvSpPr>
          <p:cNvPr id="11" name="TextBox 11"/>
          <p:cNvSpPr txBox="1"/>
          <p:nvPr/>
        </p:nvSpPr>
        <p:spPr>
          <a:xfrm>
            <a:off x="6280711" y="451026"/>
            <a:ext cx="5054468" cy="303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2"/>
              </a:lnSpc>
            </a:pPr>
            <a:r>
              <a:rPr lang="en-US" sz="2444" b="1" spc="-80" dirty="0">
                <a:solidFill>
                  <a:srgbClr val="4A4256"/>
                </a:solidFill>
                <a:latin typeface="+mj-lt"/>
                <a:ea typeface="TT Norms Bold"/>
                <a:cs typeface="TT Norms Bold"/>
                <a:sym typeface="TT Norms Bold"/>
              </a:rPr>
              <a:t>AI Hackathon 2026</a:t>
            </a:r>
          </a:p>
        </p:txBody>
      </p:sp>
      <p:sp>
        <p:nvSpPr>
          <p:cNvPr id="12" name="Freeform 12"/>
          <p:cNvSpPr/>
          <p:nvPr/>
        </p:nvSpPr>
        <p:spPr>
          <a:xfrm>
            <a:off x="-232384" y="3727498"/>
            <a:ext cx="1785011" cy="4562485"/>
          </a:xfrm>
          <a:custGeom>
            <a:avLst/>
            <a:gdLst/>
            <a:ahLst/>
            <a:cxnLst/>
            <a:rect l="l" t="t" r="r" b="b"/>
            <a:pathLst>
              <a:path w="1785011" h="4562485">
                <a:moveTo>
                  <a:pt x="0" y="0"/>
                </a:moveTo>
                <a:lnTo>
                  <a:pt x="1785011" y="0"/>
                </a:lnTo>
                <a:lnTo>
                  <a:pt x="1785011" y="4562485"/>
                </a:lnTo>
                <a:lnTo>
                  <a:pt x="0" y="45624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48336" r="-135736" b="-112"/>
            </a:stretch>
          </a:blipFill>
        </p:spPr>
        <p:txBody>
          <a:bodyPr/>
          <a:lstStyle/>
          <a:p>
            <a:endParaRPr lang="en-PT"/>
          </a:p>
        </p:txBody>
      </p:sp>
      <p:sp>
        <p:nvSpPr>
          <p:cNvPr id="13" name="TextBox 13"/>
          <p:cNvSpPr txBox="1"/>
          <p:nvPr/>
        </p:nvSpPr>
        <p:spPr>
          <a:xfrm>
            <a:off x="5490289" y="5934401"/>
            <a:ext cx="7358989" cy="586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8"/>
              </a:lnSpc>
            </a:pPr>
            <a:r>
              <a:rPr lang="en-US" sz="4400" spc="-198">
                <a:solidFill>
                  <a:srgbClr val="8766BC"/>
                </a:solidFill>
                <a:latin typeface="Fredoka"/>
                <a:ea typeface="Fredoka"/>
                <a:cs typeface="Fredoka"/>
                <a:sym typeface="Fredoka"/>
              </a:rPr>
              <a:t>What was accomplished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56653" y="2274316"/>
            <a:ext cx="5944623" cy="50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3053" lvl="1" algn="l">
              <a:lnSpc>
                <a:spcPts val="4059"/>
              </a:lnSpc>
            </a:pPr>
            <a:r>
              <a:rPr lang="en-US" sz="2899" spc="-95" dirty="0">
                <a:solidFill>
                  <a:srgbClr val="2E2E2E"/>
                </a:solidFill>
                <a:latin typeface="+mj-lt"/>
                <a:ea typeface="TT Norms"/>
                <a:cs typeface="TT Norms"/>
                <a:sym typeface="TT Norms"/>
              </a:rPr>
              <a:t>Rui </a:t>
            </a:r>
            <a:r>
              <a:rPr lang="en-US" sz="2899" spc="-95" dirty="0" err="1">
                <a:solidFill>
                  <a:srgbClr val="2E2E2E"/>
                </a:solidFill>
                <a:latin typeface="+mj-lt"/>
                <a:ea typeface="TT Norms"/>
                <a:cs typeface="TT Norms"/>
                <a:sym typeface="TT Norms"/>
              </a:rPr>
              <a:t>Cadete</a:t>
            </a:r>
            <a:endParaRPr lang="en-US" sz="2899" spc="-95" dirty="0">
              <a:solidFill>
                <a:srgbClr val="2E2E2E"/>
              </a:solidFill>
              <a:latin typeface="+mj-lt"/>
              <a:ea typeface="TT Norms"/>
              <a:cs typeface="TT Norms"/>
              <a:sym typeface="TT Norms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736125" y="7003493"/>
            <a:ext cx="3589084" cy="3028868"/>
            <a:chOff x="0" y="0"/>
            <a:chExt cx="945273" cy="79772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45273" cy="797726"/>
            </a:xfrm>
            <a:custGeom>
              <a:avLst/>
              <a:gdLst/>
              <a:ahLst/>
              <a:cxnLst/>
              <a:rect l="l" t="t" r="r" b="b"/>
              <a:pathLst>
                <a:path w="945273" h="797726">
                  <a:moveTo>
                    <a:pt x="38827" y="0"/>
                  </a:moveTo>
                  <a:lnTo>
                    <a:pt x="906446" y="0"/>
                  </a:lnTo>
                  <a:cubicBezTo>
                    <a:pt x="916744" y="0"/>
                    <a:pt x="926619" y="4091"/>
                    <a:pt x="933901" y="11372"/>
                  </a:cubicBezTo>
                  <a:cubicBezTo>
                    <a:pt x="941182" y="18654"/>
                    <a:pt x="945273" y="28530"/>
                    <a:pt x="945273" y="38827"/>
                  </a:cubicBezTo>
                  <a:lnTo>
                    <a:pt x="945273" y="758899"/>
                  </a:lnTo>
                  <a:cubicBezTo>
                    <a:pt x="945273" y="780343"/>
                    <a:pt x="927890" y="797726"/>
                    <a:pt x="906446" y="797726"/>
                  </a:cubicBezTo>
                  <a:lnTo>
                    <a:pt x="38827" y="797726"/>
                  </a:lnTo>
                  <a:cubicBezTo>
                    <a:pt x="28530" y="797726"/>
                    <a:pt x="18654" y="793636"/>
                    <a:pt x="11372" y="786354"/>
                  </a:cubicBezTo>
                  <a:cubicBezTo>
                    <a:pt x="4091" y="779073"/>
                    <a:pt x="0" y="769197"/>
                    <a:pt x="0" y="758899"/>
                  </a:cubicBezTo>
                  <a:lnTo>
                    <a:pt x="0" y="38827"/>
                  </a:lnTo>
                  <a:cubicBezTo>
                    <a:pt x="0" y="28530"/>
                    <a:pt x="4091" y="18654"/>
                    <a:pt x="11372" y="11372"/>
                  </a:cubicBezTo>
                  <a:cubicBezTo>
                    <a:pt x="18654" y="4091"/>
                    <a:pt x="28530" y="0"/>
                    <a:pt x="38827" y="0"/>
                  </a:cubicBezTo>
                  <a:close/>
                </a:path>
              </a:pathLst>
            </a:custGeom>
            <a:ln w="19050" cap="sq">
              <a:solidFill>
                <a:srgbClr val="2E2E2E"/>
              </a:solidFill>
              <a:prstDash val="solid"/>
              <a:miter/>
            </a:ln>
          </p:spPr>
          <p:txBody>
            <a:bodyPr/>
            <a:lstStyle/>
            <a:p>
              <a:endParaRPr lang="en-P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45273" cy="83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678943" y="7003493"/>
            <a:ext cx="3589084" cy="3028868"/>
            <a:chOff x="0" y="0"/>
            <a:chExt cx="945273" cy="79772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45273" cy="797726"/>
            </a:xfrm>
            <a:custGeom>
              <a:avLst/>
              <a:gdLst/>
              <a:ahLst/>
              <a:cxnLst/>
              <a:rect l="l" t="t" r="r" b="b"/>
              <a:pathLst>
                <a:path w="945273" h="797726">
                  <a:moveTo>
                    <a:pt x="38827" y="0"/>
                  </a:moveTo>
                  <a:lnTo>
                    <a:pt x="906446" y="0"/>
                  </a:lnTo>
                  <a:cubicBezTo>
                    <a:pt x="916744" y="0"/>
                    <a:pt x="926619" y="4091"/>
                    <a:pt x="933901" y="11372"/>
                  </a:cubicBezTo>
                  <a:cubicBezTo>
                    <a:pt x="941182" y="18654"/>
                    <a:pt x="945273" y="28530"/>
                    <a:pt x="945273" y="38827"/>
                  </a:cubicBezTo>
                  <a:lnTo>
                    <a:pt x="945273" y="758899"/>
                  </a:lnTo>
                  <a:cubicBezTo>
                    <a:pt x="945273" y="780343"/>
                    <a:pt x="927890" y="797726"/>
                    <a:pt x="906446" y="797726"/>
                  </a:cubicBezTo>
                  <a:lnTo>
                    <a:pt x="38827" y="797726"/>
                  </a:lnTo>
                  <a:cubicBezTo>
                    <a:pt x="28530" y="797726"/>
                    <a:pt x="18654" y="793636"/>
                    <a:pt x="11372" y="786354"/>
                  </a:cubicBezTo>
                  <a:cubicBezTo>
                    <a:pt x="4091" y="779073"/>
                    <a:pt x="0" y="769197"/>
                    <a:pt x="0" y="758899"/>
                  </a:cubicBezTo>
                  <a:lnTo>
                    <a:pt x="0" y="38827"/>
                  </a:lnTo>
                  <a:cubicBezTo>
                    <a:pt x="0" y="28530"/>
                    <a:pt x="4091" y="18654"/>
                    <a:pt x="11372" y="11372"/>
                  </a:cubicBezTo>
                  <a:cubicBezTo>
                    <a:pt x="18654" y="4091"/>
                    <a:pt x="28530" y="0"/>
                    <a:pt x="38827" y="0"/>
                  </a:cubicBezTo>
                  <a:close/>
                </a:path>
              </a:pathLst>
            </a:custGeom>
            <a:ln w="19050" cap="sq">
              <a:solidFill>
                <a:srgbClr val="2E2E2E"/>
              </a:solidFill>
              <a:prstDash val="solid"/>
              <a:miter/>
            </a:ln>
          </p:spPr>
          <p:txBody>
            <a:bodyPr/>
            <a:lstStyle/>
            <a:p>
              <a:endParaRPr lang="en-P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45273" cy="83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621761" y="7003493"/>
            <a:ext cx="3589084" cy="3028868"/>
            <a:chOff x="0" y="0"/>
            <a:chExt cx="945273" cy="79772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45273" cy="797726"/>
            </a:xfrm>
            <a:custGeom>
              <a:avLst/>
              <a:gdLst/>
              <a:ahLst/>
              <a:cxnLst/>
              <a:rect l="l" t="t" r="r" b="b"/>
              <a:pathLst>
                <a:path w="945273" h="797726">
                  <a:moveTo>
                    <a:pt x="38827" y="0"/>
                  </a:moveTo>
                  <a:lnTo>
                    <a:pt x="906446" y="0"/>
                  </a:lnTo>
                  <a:cubicBezTo>
                    <a:pt x="916744" y="0"/>
                    <a:pt x="926619" y="4091"/>
                    <a:pt x="933901" y="11372"/>
                  </a:cubicBezTo>
                  <a:cubicBezTo>
                    <a:pt x="941182" y="18654"/>
                    <a:pt x="945273" y="28530"/>
                    <a:pt x="945273" y="38827"/>
                  </a:cubicBezTo>
                  <a:lnTo>
                    <a:pt x="945273" y="758899"/>
                  </a:lnTo>
                  <a:cubicBezTo>
                    <a:pt x="945273" y="780343"/>
                    <a:pt x="927890" y="797726"/>
                    <a:pt x="906446" y="797726"/>
                  </a:cubicBezTo>
                  <a:lnTo>
                    <a:pt x="38827" y="797726"/>
                  </a:lnTo>
                  <a:cubicBezTo>
                    <a:pt x="28530" y="797726"/>
                    <a:pt x="18654" y="793636"/>
                    <a:pt x="11372" y="786354"/>
                  </a:cubicBezTo>
                  <a:cubicBezTo>
                    <a:pt x="4091" y="779073"/>
                    <a:pt x="0" y="769197"/>
                    <a:pt x="0" y="758899"/>
                  </a:cubicBezTo>
                  <a:lnTo>
                    <a:pt x="0" y="38827"/>
                  </a:lnTo>
                  <a:cubicBezTo>
                    <a:pt x="0" y="28530"/>
                    <a:pt x="4091" y="18654"/>
                    <a:pt x="11372" y="11372"/>
                  </a:cubicBezTo>
                  <a:cubicBezTo>
                    <a:pt x="18654" y="4091"/>
                    <a:pt x="28530" y="0"/>
                    <a:pt x="38827" y="0"/>
                  </a:cubicBezTo>
                  <a:close/>
                </a:path>
              </a:pathLst>
            </a:custGeom>
            <a:ln w="19050" cap="sq">
              <a:solidFill>
                <a:srgbClr val="2E2E2E"/>
              </a:solidFill>
              <a:prstDash val="solid"/>
              <a:miter/>
            </a:ln>
          </p:spPr>
          <p:txBody>
            <a:bodyPr/>
            <a:lstStyle/>
            <a:p>
              <a:endParaRPr lang="en-P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45273" cy="83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564579" y="7003493"/>
            <a:ext cx="3589084" cy="3028868"/>
            <a:chOff x="0" y="0"/>
            <a:chExt cx="945273" cy="797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45273" cy="797726"/>
            </a:xfrm>
            <a:custGeom>
              <a:avLst/>
              <a:gdLst/>
              <a:ahLst/>
              <a:cxnLst/>
              <a:rect l="l" t="t" r="r" b="b"/>
              <a:pathLst>
                <a:path w="945273" h="797726">
                  <a:moveTo>
                    <a:pt x="38827" y="0"/>
                  </a:moveTo>
                  <a:lnTo>
                    <a:pt x="906446" y="0"/>
                  </a:lnTo>
                  <a:cubicBezTo>
                    <a:pt x="916744" y="0"/>
                    <a:pt x="926619" y="4091"/>
                    <a:pt x="933901" y="11372"/>
                  </a:cubicBezTo>
                  <a:cubicBezTo>
                    <a:pt x="941182" y="18654"/>
                    <a:pt x="945273" y="28530"/>
                    <a:pt x="945273" y="38827"/>
                  </a:cubicBezTo>
                  <a:lnTo>
                    <a:pt x="945273" y="758899"/>
                  </a:lnTo>
                  <a:cubicBezTo>
                    <a:pt x="945273" y="780343"/>
                    <a:pt x="927890" y="797726"/>
                    <a:pt x="906446" y="797726"/>
                  </a:cubicBezTo>
                  <a:lnTo>
                    <a:pt x="38827" y="797726"/>
                  </a:lnTo>
                  <a:cubicBezTo>
                    <a:pt x="28530" y="797726"/>
                    <a:pt x="18654" y="793636"/>
                    <a:pt x="11372" y="786354"/>
                  </a:cubicBezTo>
                  <a:cubicBezTo>
                    <a:pt x="4091" y="779073"/>
                    <a:pt x="0" y="769197"/>
                    <a:pt x="0" y="758899"/>
                  </a:cubicBezTo>
                  <a:lnTo>
                    <a:pt x="0" y="38827"/>
                  </a:lnTo>
                  <a:cubicBezTo>
                    <a:pt x="0" y="28530"/>
                    <a:pt x="4091" y="18654"/>
                    <a:pt x="11372" y="11372"/>
                  </a:cubicBezTo>
                  <a:cubicBezTo>
                    <a:pt x="18654" y="4091"/>
                    <a:pt x="28530" y="0"/>
                    <a:pt x="38827" y="0"/>
                  </a:cubicBezTo>
                  <a:close/>
                </a:path>
              </a:pathLst>
            </a:custGeom>
            <a:ln w="19050" cap="sq">
              <a:solidFill>
                <a:srgbClr val="2E2E2E"/>
              </a:solidFill>
              <a:prstDash val="solid"/>
              <a:miter/>
            </a:ln>
          </p:spPr>
          <p:txBody>
            <a:bodyPr/>
            <a:lstStyle/>
            <a:p>
              <a:endParaRPr lang="en-P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945273" cy="83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780404" y="7695028"/>
            <a:ext cx="3589084" cy="21929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Deterministic multi-agent Orchestration (not a single prompt)</a:t>
            </a:r>
          </a:p>
          <a:p>
            <a:pPr marL="342900" indent="-342900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Structured root cause inference and severity classification</a:t>
            </a:r>
          </a:p>
          <a:p>
            <a:pPr marL="342900" indent="-342900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Modular agent design</a:t>
            </a:r>
          </a:p>
        </p:txBody>
      </p:sp>
      <p:sp>
        <p:nvSpPr>
          <p:cNvPr id="31" name="Freeform 31"/>
          <p:cNvSpPr/>
          <p:nvPr/>
        </p:nvSpPr>
        <p:spPr>
          <a:xfrm rot="-606603">
            <a:off x="404814" y="1603340"/>
            <a:ext cx="1247772" cy="1062166"/>
          </a:xfrm>
          <a:custGeom>
            <a:avLst/>
            <a:gdLst/>
            <a:ahLst/>
            <a:cxnLst/>
            <a:rect l="l" t="t" r="r" b="b"/>
            <a:pathLst>
              <a:path w="1247772" h="1062166">
                <a:moveTo>
                  <a:pt x="0" y="0"/>
                </a:moveTo>
                <a:lnTo>
                  <a:pt x="1247772" y="0"/>
                </a:lnTo>
                <a:lnTo>
                  <a:pt x="1247772" y="1062166"/>
                </a:lnTo>
                <a:lnTo>
                  <a:pt x="0" y="10621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T"/>
          </a:p>
        </p:txBody>
      </p:sp>
      <p:sp>
        <p:nvSpPr>
          <p:cNvPr id="32" name="Freeform 32"/>
          <p:cNvSpPr/>
          <p:nvPr/>
        </p:nvSpPr>
        <p:spPr>
          <a:xfrm rot="-606603">
            <a:off x="743660" y="8619197"/>
            <a:ext cx="1247772" cy="1062166"/>
          </a:xfrm>
          <a:custGeom>
            <a:avLst/>
            <a:gdLst/>
            <a:ahLst/>
            <a:cxnLst/>
            <a:rect l="l" t="t" r="r" b="b"/>
            <a:pathLst>
              <a:path w="1247772" h="1062166">
                <a:moveTo>
                  <a:pt x="0" y="0"/>
                </a:moveTo>
                <a:lnTo>
                  <a:pt x="1247772" y="0"/>
                </a:lnTo>
                <a:lnTo>
                  <a:pt x="1247772" y="1062166"/>
                </a:lnTo>
                <a:lnTo>
                  <a:pt x="0" y="10621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T"/>
          </a:p>
        </p:txBody>
      </p:sp>
      <p:sp>
        <p:nvSpPr>
          <p:cNvPr id="33" name="TextBox 28">
            <a:extLst>
              <a:ext uri="{FF2B5EF4-FFF2-40B4-BE49-F238E27FC236}">
                <a16:creationId xmlns:a16="http://schemas.microsoft.com/office/drawing/2014/main" id="{34E6AAEC-F729-05E5-14CA-72C065325ED5}"/>
              </a:ext>
            </a:extLst>
          </p:cNvPr>
          <p:cNvSpPr txBox="1"/>
          <p:nvPr/>
        </p:nvSpPr>
        <p:spPr>
          <a:xfrm>
            <a:off x="6170225" y="7069856"/>
            <a:ext cx="2703907" cy="421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Technical Value</a:t>
            </a:r>
          </a:p>
        </p:txBody>
      </p:sp>
      <p:sp>
        <p:nvSpPr>
          <p:cNvPr id="34" name="TextBox 28">
            <a:extLst>
              <a:ext uri="{FF2B5EF4-FFF2-40B4-BE49-F238E27FC236}">
                <a16:creationId xmlns:a16="http://schemas.microsoft.com/office/drawing/2014/main" id="{A4E00555-1C6C-F1DB-0400-A85FE9F41E76}"/>
              </a:ext>
            </a:extLst>
          </p:cNvPr>
          <p:cNvSpPr txBox="1"/>
          <p:nvPr/>
        </p:nvSpPr>
        <p:spPr>
          <a:xfrm>
            <a:off x="2074971" y="7169352"/>
            <a:ext cx="2703907" cy="421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Business Impact</a:t>
            </a:r>
          </a:p>
        </p:txBody>
      </p:sp>
      <p:sp>
        <p:nvSpPr>
          <p:cNvPr id="35" name="TextBox 28">
            <a:extLst>
              <a:ext uri="{FF2B5EF4-FFF2-40B4-BE49-F238E27FC236}">
                <a16:creationId xmlns:a16="http://schemas.microsoft.com/office/drawing/2014/main" id="{FC0807D8-A370-CBD7-4C5F-912CB557F802}"/>
              </a:ext>
            </a:extLst>
          </p:cNvPr>
          <p:cNvSpPr txBox="1"/>
          <p:nvPr/>
        </p:nvSpPr>
        <p:spPr>
          <a:xfrm>
            <a:off x="10064349" y="7106830"/>
            <a:ext cx="2703907" cy="421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Innovation</a:t>
            </a:r>
          </a:p>
        </p:txBody>
      </p:sp>
      <p:sp>
        <p:nvSpPr>
          <p:cNvPr id="36" name="TextBox 28">
            <a:extLst>
              <a:ext uri="{FF2B5EF4-FFF2-40B4-BE49-F238E27FC236}">
                <a16:creationId xmlns:a16="http://schemas.microsoft.com/office/drawing/2014/main" id="{FD99DC30-647B-BF69-AB42-B079A2BC5E3F}"/>
              </a:ext>
            </a:extLst>
          </p:cNvPr>
          <p:cNvSpPr txBox="1"/>
          <p:nvPr/>
        </p:nvSpPr>
        <p:spPr>
          <a:xfrm>
            <a:off x="14007167" y="7130790"/>
            <a:ext cx="2703907" cy="421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How We build it</a:t>
            </a:r>
          </a:p>
        </p:txBody>
      </p:sp>
      <p:sp>
        <p:nvSpPr>
          <p:cNvPr id="37" name="TextBox 28">
            <a:extLst>
              <a:ext uri="{FF2B5EF4-FFF2-40B4-BE49-F238E27FC236}">
                <a16:creationId xmlns:a16="http://schemas.microsoft.com/office/drawing/2014/main" id="{817817DE-CFB4-629C-38B6-E8F9C0FDC3C2}"/>
              </a:ext>
            </a:extLst>
          </p:cNvPr>
          <p:cNvSpPr txBox="1"/>
          <p:nvPr/>
        </p:nvSpPr>
        <p:spPr>
          <a:xfrm>
            <a:off x="1752600" y="7778108"/>
            <a:ext cx="3603400" cy="174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Automatically generates structured bug reports &amp; user stories</a:t>
            </a:r>
          </a:p>
          <a:p>
            <a:pPr marL="342900" indent="-342900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Reduce manual bug triage effort</a:t>
            </a:r>
          </a:p>
          <a:p>
            <a:pPr marL="342900" indent="-342900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Standardizes issue quality across teams</a:t>
            </a:r>
          </a:p>
        </p:txBody>
      </p:sp>
      <p:sp>
        <p:nvSpPr>
          <p:cNvPr id="38" name="TextBox 28">
            <a:extLst>
              <a:ext uri="{FF2B5EF4-FFF2-40B4-BE49-F238E27FC236}">
                <a16:creationId xmlns:a16="http://schemas.microsoft.com/office/drawing/2014/main" id="{E87160AD-659D-9B34-D6E8-84A442684FBD}"/>
              </a:ext>
            </a:extLst>
          </p:cNvPr>
          <p:cNvSpPr txBox="1"/>
          <p:nvPr/>
        </p:nvSpPr>
        <p:spPr>
          <a:xfrm>
            <a:off x="9798351" y="7803755"/>
            <a:ext cx="3589084" cy="129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Practical use of GitHub Copilot Cli as orchestration engine</a:t>
            </a:r>
          </a:p>
          <a:p>
            <a:pPr marL="342900" indent="-342900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Role-specialized agents</a:t>
            </a:r>
          </a:p>
        </p:txBody>
      </p:sp>
      <p:sp>
        <p:nvSpPr>
          <p:cNvPr id="39" name="TextBox 28">
            <a:extLst>
              <a:ext uri="{FF2B5EF4-FFF2-40B4-BE49-F238E27FC236}">
                <a16:creationId xmlns:a16="http://schemas.microsoft.com/office/drawing/2014/main" id="{EC050A74-C918-7279-3378-0EA6B29279DD}"/>
              </a:ext>
            </a:extLst>
          </p:cNvPr>
          <p:cNvSpPr txBox="1"/>
          <p:nvPr/>
        </p:nvSpPr>
        <p:spPr>
          <a:xfrm>
            <a:off x="13628806" y="7719919"/>
            <a:ext cx="3589084" cy="21929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Defined clear agent responsibilities</a:t>
            </a:r>
          </a:p>
          <a:p>
            <a:pPr marL="342900" indent="-342900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Built a deterministic orchestration layer</a:t>
            </a:r>
          </a:p>
          <a:p>
            <a:pPr marL="342900" indent="-342900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Expose a REST API for CI/CD integration</a:t>
            </a:r>
          </a:p>
          <a:p>
            <a:pPr marL="342900" indent="-342900">
              <a:lnSpc>
                <a:spcPts val="3499"/>
              </a:lnSpc>
              <a:buFont typeface="Arial" panose="020B0604020202020204" pitchFamily="34" charset="0"/>
              <a:buChar char="•"/>
            </a:pPr>
            <a:r>
              <a:rPr lang="en-US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Tested with real failure events (</a:t>
            </a:r>
            <a:r>
              <a:rPr lang="en-US" spc="-82" dirty="0" err="1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Junits</a:t>
            </a:r>
            <a:r>
              <a:rPr lang="en-US" spc="-82" dirty="0">
                <a:solidFill>
                  <a:srgbClr val="2E2E2E"/>
                </a:solidFill>
                <a:ea typeface="TT Norms"/>
                <a:cs typeface="TT Norms"/>
                <a:sym typeface="TT Norms"/>
              </a:rPr>
              <a:t>/logs)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92007">
            <a:off x="11253818" y="-3649378"/>
            <a:ext cx="9270978" cy="8714719"/>
          </a:xfrm>
          <a:custGeom>
            <a:avLst/>
            <a:gdLst/>
            <a:ahLst/>
            <a:cxnLst/>
            <a:rect l="l" t="t" r="r" b="b"/>
            <a:pathLst>
              <a:path w="9270978" h="8714719">
                <a:moveTo>
                  <a:pt x="0" y="0"/>
                </a:moveTo>
                <a:lnTo>
                  <a:pt x="9270978" y="0"/>
                </a:lnTo>
                <a:lnTo>
                  <a:pt x="9270978" y="8714719"/>
                </a:lnTo>
                <a:lnTo>
                  <a:pt x="0" y="8714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PT"/>
          </a:p>
        </p:txBody>
      </p:sp>
      <p:sp>
        <p:nvSpPr>
          <p:cNvPr id="3" name="Freeform 3"/>
          <p:cNvSpPr/>
          <p:nvPr/>
        </p:nvSpPr>
        <p:spPr>
          <a:xfrm rot="-792007">
            <a:off x="-3121144" y="4153475"/>
            <a:ext cx="9270978" cy="8714719"/>
          </a:xfrm>
          <a:custGeom>
            <a:avLst/>
            <a:gdLst/>
            <a:ahLst/>
            <a:cxnLst/>
            <a:rect l="l" t="t" r="r" b="b"/>
            <a:pathLst>
              <a:path w="9270978" h="8714719">
                <a:moveTo>
                  <a:pt x="0" y="0"/>
                </a:moveTo>
                <a:lnTo>
                  <a:pt x="9270978" y="0"/>
                </a:lnTo>
                <a:lnTo>
                  <a:pt x="9270978" y="8714719"/>
                </a:lnTo>
                <a:lnTo>
                  <a:pt x="0" y="8714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T"/>
          </a:p>
        </p:txBody>
      </p:sp>
      <p:sp>
        <p:nvSpPr>
          <p:cNvPr id="4" name="Freeform 4"/>
          <p:cNvSpPr/>
          <p:nvPr/>
        </p:nvSpPr>
        <p:spPr>
          <a:xfrm>
            <a:off x="6741197" y="3713708"/>
            <a:ext cx="4805606" cy="4114800"/>
          </a:xfrm>
          <a:custGeom>
            <a:avLst/>
            <a:gdLst/>
            <a:ahLst/>
            <a:cxnLst/>
            <a:rect l="l" t="t" r="r" b="b"/>
            <a:pathLst>
              <a:path w="4805606" h="4114800">
                <a:moveTo>
                  <a:pt x="0" y="0"/>
                </a:moveTo>
                <a:lnTo>
                  <a:pt x="4805606" y="0"/>
                </a:lnTo>
                <a:lnTo>
                  <a:pt x="48056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T"/>
          </a:p>
        </p:txBody>
      </p:sp>
      <p:sp>
        <p:nvSpPr>
          <p:cNvPr id="5" name="Freeform 5"/>
          <p:cNvSpPr/>
          <p:nvPr/>
        </p:nvSpPr>
        <p:spPr>
          <a:xfrm rot="-112581">
            <a:off x="14128395" y="148847"/>
            <a:ext cx="5191320" cy="2684345"/>
          </a:xfrm>
          <a:custGeom>
            <a:avLst/>
            <a:gdLst/>
            <a:ahLst/>
            <a:cxnLst/>
            <a:rect l="l" t="t" r="r" b="b"/>
            <a:pathLst>
              <a:path w="5191320" h="2684345">
                <a:moveTo>
                  <a:pt x="0" y="0"/>
                </a:moveTo>
                <a:lnTo>
                  <a:pt x="5191320" y="0"/>
                </a:lnTo>
                <a:lnTo>
                  <a:pt x="5191320" y="2684345"/>
                </a:lnTo>
                <a:lnTo>
                  <a:pt x="0" y="2684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T"/>
          </a:p>
        </p:txBody>
      </p:sp>
      <p:sp>
        <p:nvSpPr>
          <p:cNvPr id="6" name="Freeform 6"/>
          <p:cNvSpPr/>
          <p:nvPr/>
        </p:nvSpPr>
        <p:spPr>
          <a:xfrm rot="756071">
            <a:off x="-810649" y="8317262"/>
            <a:ext cx="5191320" cy="2684345"/>
          </a:xfrm>
          <a:custGeom>
            <a:avLst/>
            <a:gdLst/>
            <a:ahLst/>
            <a:cxnLst/>
            <a:rect l="l" t="t" r="r" b="b"/>
            <a:pathLst>
              <a:path w="5191320" h="2684345">
                <a:moveTo>
                  <a:pt x="0" y="0"/>
                </a:moveTo>
                <a:lnTo>
                  <a:pt x="5191319" y="0"/>
                </a:lnTo>
                <a:lnTo>
                  <a:pt x="5191319" y="2684345"/>
                </a:lnTo>
                <a:lnTo>
                  <a:pt x="0" y="2684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T"/>
          </a:p>
        </p:txBody>
      </p:sp>
      <p:sp>
        <p:nvSpPr>
          <p:cNvPr id="7" name="Freeform 7"/>
          <p:cNvSpPr/>
          <p:nvPr/>
        </p:nvSpPr>
        <p:spPr>
          <a:xfrm>
            <a:off x="-3605647" y="295152"/>
            <a:ext cx="5032591" cy="3000682"/>
          </a:xfrm>
          <a:custGeom>
            <a:avLst/>
            <a:gdLst/>
            <a:ahLst/>
            <a:cxnLst/>
            <a:rect l="l" t="t" r="r" b="b"/>
            <a:pathLst>
              <a:path w="5032591" h="3000682">
                <a:moveTo>
                  <a:pt x="0" y="0"/>
                </a:moveTo>
                <a:lnTo>
                  <a:pt x="5032590" y="0"/>
                </a:lnTo>
                <a:lnTo>
                  <a:pt x="5032590" y="3000682"/>
                </a:lnTo>
                <a:lnTo>
                  <a:pt x="0" y="30006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T"/>
          </a:p>
        </p:txBody>
      </p:sp>
      <p:sp>
        <p:nvSpPr>
          <p:cNvPr id="8" name="Freeform 8"/>
          <p:cNvSpPr/>
          <p:nvPr/>
        </p:nvSpPr>
        <p:spPr>
          <a:xfrm>
            <a:off x="16834818" y="7010493"/>
            <a:ext cx="5032591" cy="3000682"/>
          </a:xfrm>
          <a:custGeom>
            <a:avLst/>
            <a:gdLst/>
            <a:ahLst/>
            <a:cxnLst/>
            <a:rect l="l" t="t" r="r" b="b"/>
            <a:pathLst>
              <a:path w="5032591" h="3000682">
                <a:moveTo>
                  <a:pt x="0" y="0"/>
                </a:moveTo>
                <a:lnTo>
                  <a:pt x="5032591" y="0"/>
                </a:lnTo>
                <a:lnTo>
                  <a:pt x="5032591" y="3000683"/>
                </a:lnTo>
                <a:lnTo>
                  <a:pt x="0" y="30006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T"/>
          </a:p>
        </p:txBody>
      </p:sp>
      <p:sp>
        <p:nvSpPr>
          <p:cNvPr id="9" name="Freeform 9"/>
          <p:cNvSpPr/>
          <p:nvPr/>
        </p:nvSpPr>
        <p:spPr>
          <a:xfrm rot="-1278149">
            <a:off x="2930590" y="1540293"/>
            <a:ext cx="820281" cy="1669783"/>
          </a:xfrm>
          <a:custGeom>
            <a:avLst/>
            <a:gdLst/>
            <a:ahLst/>
            <a:cxnLst/>
            <a:rect l="l" t="t" r="r" b="b"/>
            <a:pathLst>
              <a:path w="820281" h="1669783">
                <a:moveTo>
                  <a:pt x="0" y="0"/>
                </a:moveTo>
                <a:lnTo>
                  <a:pt x="820280" y="0"/>
                </a:lnTo>
                <a:lnTo>
                  <a:pt x="820280" y="1669783"/>
                </a:lnTo>
                <a:lnTo>
                  <a:pt x="0" y="1669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T"/>
          </a:p>
        </p:txBody>
      </p:sp>
      <p:sp>
        <p:nvSpPr>
          <p:cNvPr id="10" name="TextBox 10"/>
          <p:cNvSpPr txBox="1"/>
          <p:nvPr/>
        </p:nvSpPr>
        <p:spPr>
          <a:xfrm>
            <a:off x="4265649" y="1318959"/>
            <a:ext cx="9756703" cy="104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86"/>
              </a:lnSpc>
            </a:pPr>
            <a:r>
              <a:rPr lang="en-US" sz="7829" spc="-352">
                <a:solidFill>
                  <a:srgbClr val="8766BC"/>
                </a:solidFill>
                <a:latin typeface="Fredoka"/>
                <a:ea typeface="Fredoka"/>
                <a:cs typeface="Fredoka"/>
                <a:sym typeface="Fredoka"/>
              </a:rPr>
              <a:t>DEMO TIME!</a:t>
            </a:r>
          </a:p>
        </p:txBody>
      </p:sp>
      <p:sp>
        <p:nvSpPr>
          <p:cNvPr id="11" name="Freeform 11"/>
          <p:cNvSpPr/>
          <p:nvPr/>
        </p:nvSpPr>
        <p:spPr>
          <a:xfrm rot="1286462">
            <a:off x="13612211" y="7884041"/>
            <a:ext cx="820281" cy="1669783"/>
          </a:xfrm>
          <a:custGeom>
            <a:avLst/>
            <a:gdLst/>
            <a:ahLst/>
            <a:cxnLst/>
            <a:rect l="l" t="t" r="r" b="b"/>
            <a:pathLst>
              <a:path w="820281" h="1669783">
                <a:moveTo>
                  <a:pt x="0" y="0"/>
                </a:moveTo>
                <a:lnTo>
                  <a:pt x="820281" y="0"/>
                </a:lnTo>
                <a:lnTo>
                  <a:pt x="820281" y="1669783"/>
                </a:lnTo>
                <a:lnTo>
                  <a:pt x="0" y="1669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123</Words>
  <Application>Microsoft Macintosh PowerPoint</Application>
  <PresentationFormat>Custom</PresentationFormat>
  <Paragraphs>25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TT Norms</vt:lpstr>
      <vt:lpstr>Fredoka</vt:lpstr>
      <vt:lpstr>Arial</vt:lpstr>
      <vt:lpstr>Calibri</vt:lpstr>
      <vt:lpstr>Aptos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Presentation Template</dc:title>
  <cp:lastModifiedBy>rui.cadete</cp:lastModifiedBy>
  <cp:revision>4</cp:revision>
  <dcterms:created xsi:type="dcterms:W3CDTF">2006-08-16T00:00:00Z</dcterms:created>
  <dcterms:modified xsi:type="dcterms:W3CDTF">2026-02-27T11:10:55Z</dcterms:modified>
  <dc:identifier>DAHCPBCSc9A</dc:identifier>
</cp:coreProperties>
</file>